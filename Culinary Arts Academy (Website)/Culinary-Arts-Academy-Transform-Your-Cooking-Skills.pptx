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Fraunces Extra Bold" pitchFamily="34" charset="0"/>
      <p:italic r:id="rId17"/>
    </p:embeddedFont>
    <p:embeddedFont>
      <p:font typeface="Fraunces Extra Bold" pitchFamily="34" charset="-122"/>
      <p:italic r:id="rId18"/>
    </p:embeddedFont>
    <p:embeddedFont>
      <p:font typeface="Fraunces Extra Bold" pitchFamily="34" charset="-120"/>
      <p:italic r:id="rId19"/>
    </p:embeddedFont>
    <p:embeddedFont>
      <p:font typeface="Nobile" panose="02000503050000020004" pitchFamily="34" charset="0"/>
      <p:regular r:id="rId20"/>
    </p:embeddedFont>
    <p:embeddedFont>
      <p:font typeface="Nobile" panose="02000503050000020004" pitchFamily="34" charset="-122"/>
      <p:regular r:id="rId21"/>
    </p:embeddedFont>
    <p:embeddedFont>
      <p:font typeface="Nobile" panose="02000503050000020004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6" d="100"/>
          <a:sy n="56" d="100"/>
        </p:scale>
        <p:origin x="6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8.xml"/><Relationship Id="rId17" Type="http://schemas.openxmlformats.org/officeDocument/2006/relationships/image" Target="../media/image8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9.xml"/><Relationship Id="rId5" Type="http://schemas.openxmlformats.org/officeDocument/2006/relationships/hyperlink" Target="https://github.com/yourusername/culinary-arts-academy" TargetMode="External"/><Relationship Id="rId4" Type="http://schemas.openxmlformats.org/officeDocument/2006/relationships/image" Target="../media/image11.svg"/><Relationship Id="rId3" Type="http://schemas.openxmlformats.org/officeDocument/2006/relationships/hyperlink" Target="https://yourusername.github.io/culinary-arts-academy" TargetMode="Externa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45939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Culinary Arts Academy: Transform Your Cooking Skills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1243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Presented by:                Usaid Shahid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30491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                                    Fatima Bhatti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30285" y="4548505"/>
            <a:ext cx="5206365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Zainab Amir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37905" y="5166360"/>
            <a:ext cx="5198745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Eman</a:t>
            </a: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</a:t>
            </a:r>
            <a:r>
              <a:rPr lang="en-US" sz="1750" dirty="0" err="1" smtClean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Sarfraz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44890" y="5784850"/>
            <a:ext cx="5191760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Azkia Riaz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592570" y="6402705"/>
            <a:ext cx="7244080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702075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Rectangle 10"/>
          <p:cNvSpPr/>
          <p:nvPr/>
        </p:nvSpPr>
        <p:spPr>
          <a:xfrm>
            <a:off x="12595860" y="7680960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1"/>
          <a:stretch>
            <a:fillRect/>
          </a:stretch>
        </p:blipFill>
        <p:spPr>
          <a:xfrm>
            <a:off x="-28575" y="0"/>
            <a:ext cx="6083935" cy="8228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2675870" y="7656910"/>
            <a:ext cx="195453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635079" y="920115"/>
            <a:ext cx="6911340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Overview &amp; Objectives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5079" y="1759267"/>
            <a:ext cx="3846195" cy="3116342"/>
          </a:xfrm>
          <a:prstGeom prst="roundRect">
            <a:avLst>
              <a:gd name="adj" fmla="val 352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2219" y="1759267"/>
            <a:ext cx="91440" cy="3116342"/>
          </a:xfrm>
          <a:prstGeom prst="roundRect">
            <a:avLst>
              <a:gd name="adj" fmla="val 178595"/>
            </a:avLst>
          </a:prstGeom>
          <a:solidFill>
            <a:schemeClr val="accent1">
              <a:lumMod val="50000"/>
            </a:schemeClr>
          </a:solidFill>
        </p:spPr>
      </p:sp>
      <p:sp>
        <p:nvSpPr>
          <p:cNvPr id="6" name="Text 3"/>
          <p:cNvSpPr/>
          <p:nvPr/>
        </p:nvSpPr>
        <p:spPr>
          <a:xfrm>
            <a:off x="907971" y="1963579"/>
            <a:ext cx="3368993" cy="566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Integrated Platform Development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07971" y="2639378"/>
            <a:ext cx="3368993" cy="20319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design and implement a comprehensive suite of academic deliverables, including a fully functional website, an Excel enrollment tracker, and a Word brochure, all centred around a culinary classes concept.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2726" y="1759267"/>
            <a:ext cx="3846195" cy="3116342"/>
          </a:xfrm>
          <a:prstGeom prst="roundRect">
            <a:avLst>
              <a:gd name="adj" fmla="val 352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39866" y="1759267"/>
            <a:ext cx="91440" cy="3116342"/>
          </a:xfrm>
          <a:prstGeom prst="roundRect">
            <a:avLst>
              <a:gd name="adj" fmla="val 178595"/>
            </a:avLst>
          </a:prstGeom>
          <a:solidFill>
            <a:schemeClr val="accent1">
              <a:lumMod val="50000"/>
            </a:schemeClr>
          </a:solidFill>
        </p:spPr>
      </p:sp>
      <p:sp>
        <p:nvSpPr>
          <p:cNvPr id="10" name="Text 7"/>
          <p:cNvSpPr/>
          <p:nvPr/>
        </p:nvSpPr>
        <p:spPr>
          <a:xfrm>
            <a:off x="4935617" y="1963579"/>
            <a:ext cx="3368993" cy="566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Technical Proficiency &amp; Real-World Application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35617" y="2639378"/>
            <a:ext cx="3368993" cy="14513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demonstrate mastery of semantic HTML5 and CSS for web development, alongside practical data management in Excel, showcasing skills applicable to real-world deployment.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079" y="5057061"/>
            <a:ext cx="3846195" cy="2252305"/>
          </a:xfrm>
          <a:prstGeom prst="roundRect">
            <a:avLst>
              <a:gd name="adj" fmla="val 4872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219" y="5057061"/>
            <a:ext cx="91440" cy="2252305"/>
          </a:xfrm>
          <a:prstGeom prst="roundRect">
            <a:avLst>
              <a:gd name="adj" fmla="val 178595"/>
            </a:avLst>
          </a:prstGeom>
          <a:solidFill>
            <a:schemeClr val="accent1">
              <a:lumMod val="50000"/>
            </a:schemeClr>
          </a:solidFill>
        </p:spPr>
      </p:sp>
      <p:sp>
        <p:nvSpPr>
          <p:cNvPr id="14" name="Text 11"/>
          <p:cNvSpPr/>
          <p:nvPr/>
        </p:nvSpPr>
        <p:spPr>
          <a:xfrm>
            <a:off x="907971" y="5261372"/>
            <a:ext cx="2992279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Engaging User Experience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07971" y="5653683"/>
            <a:ext cx="3368993" cy="14513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create an accessible, responsive, and visually professional digital platform that effectively promotes culinary education and fosters student engagement.</a:t>
            </a:r>
            <a:endParaRPr lang="en-US" sz="1400" dirty="0"/>
          </a:p>
        </p:txBody>
      </p:sp>
      <p:pic>
        <p:nvPicPr>
          <p:cNvPr id="17" name="Picture 16"/>
          <p:cNvPicPr/>
          <p:nvPr/>
        </p:nvPicPr>
        <p:blipFill>
          <a:blip r:embed="rId1"/>
          <a:stretch>
            <a:fillRect/>
          </a:stretch>
        </p:blipFill>
        <p:spPr>
          <a:xfrm>
            <a:off x="8667115" y="-635"/>
            <a:ext cx="5963285" cy="8236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093" y="433864"/>
            <a:ext cx="7221736" cy="493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Website Demonstration: Home Page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8906232" y="1321237"/>
            <a:ext cx="2953822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Hero Section &amp; Call-to-Action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905875" y="1774825"/>
            <a:ext cx="5179695" cy="1322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home page serves as a welcoming gateway, featuring a prominent hero section that immediately introduces the Culinary Arts Academy. A clear call-to-action guides visitors to explore course offerings</a:t>
            </a:r>
            <a:r>
              <a:rPr lang="en-US" sz="12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06510" y="3416935"/>
            <a:ext cx="2920365" cy="3486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Information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905597" y="3960019"/>
            <a:ext cx="5179576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Institutional background and mission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906510" y="4297680"/>
            <a:ext cx="5179695" cy="65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Key statistics: </a:t>
            </a:r>
            <a:r>
              <a:rPr lang="en-US" b="1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5,000+ students trained</a:t>
            </a: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98%  </a:t>
            </a:r>
            <a:endParaRPr lang="en-US" dirty="0">
              <a:solidFill>
                <a:srgbClr val="405449"/>
              </a:solidFill>
              <a:latin typeface="Nobile" panose="02000503050000020004" pitchFamily="34" charset="0"/>
              <a:ea typeface="Nobile" panose="02000503050000020004" pitchFamily="34" charset="-122"/>
              <a:cs typeface="Nobile" panose="02000503050000020004" pitchFamily="34" charset="-120"/>
            </a:endParaRPr>
          </a:p>
          <a:p>
            <a:pPr indent="0" algn="l">
              <a:lnSpc>
                <a:spcPts val="1950"/>
              </a:lnSpc>
              <a:buSzPct val="100000"/>
              <a:buNone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satisfaction rate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2675870" y="7680960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944245"/>
            <a:ext cx="8738870" cy="7284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093" y="433864"/>
            <a:ext cx="7501176" cy="493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Website Demonstration: Classes Page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2093" y="1567617"/>
            <a:ext cx="2595086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Detailed Course Offerings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6245" y="2143760"/>
            <a:ext cx="5179695" cy="14979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section provides prospective students with comprehensive information about each culinary class, enabling informed decisions</a:t>
            </a:r>
            <a:r>
              <a:rPr lang="en-US" sz="12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6523" y="3280251"/>
            <a:ext cx="5179576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b="1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Duration</a:t>
            </a: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&amp; </a:t>
            </a:r>
            <a:r>
              <a:rPr lang="en-US" b="1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Schedules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6523" y="3655100"/>
            <a:ext cx="5179576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b="1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Pricing</a:t>
            </a: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(e.g., Italian Cuisine Mastery: $249)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6523" y="4030583"/>
            <a:ext cx="5179576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Variety of culinary specialities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2675870" y="7660601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6575" y="1047750"/>
            <a:ext cx="8834755" cy="6493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093" y="433864"/>
            <a:ext cx="7594521" cy="493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Website Demonstration: Contact Page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8906232" y="1321237"/>
            <a:ext cx="2758797" cy="246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Structured Communication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906510" y="2006600"/>
            <a:ext cx="5179695" cy="913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contact page facilitates easy communication, providing all necessary details for inquiries and engagement.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905597" y="3358356"/>
            <a:ext cx="5179576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Physical address and contact numbers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904962" y="3943390"/>
            <a:ext cx="5179576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Social media integration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904327" y="4529058"/>
            <a:ext cx="5179576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HTML-only contact form for direct messages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2675870" y="7680959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55" y="1200150"/>
            <a:ext cx="8270875" cy="6479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538" y="385405"/>
            <a:ext cx="6288762" cy="4379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Enrollment Data &amp; Fee Calculations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198120" y="1130935"/>
            <a:ext cx="13649325" cy="6191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Leveraging Excel, we tracked enrolment figures and calculated fees across various classes. This visualisation illustrates the</a:t>
            </a:r>
            <a:endParaRPr lang="en-US" dirty="0">
              <a:solidFill>
                <a:srgbClr val="405449"/>
              </a:solidFill>
              <a:latin typeface="Nobile" panose="02000503050000020004" pitchFamily="34" charset="0"/>
              <a:ea typeface="Nobile" panose="02000503050000020004" pitchFamily="34" charset="-122"/>
              <a:cs typeface="Nobile" panose="02000503050000020004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popularity and revenue generation from our offerings</a:t>
            </a:r>
            <a:r>
              <a:rPr lang="en-US" sz="11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0538" y="7175382"/>
            <a:ext cx="13649325" cy="224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chart highlights the higher enrolment in foundational skills classes, suggesting a robust demand for introductory culinary </a:t>
            </a:r>
            <a:endParaRPr lang="en-US" dirty="0">
              <a:solidFill>
                <a:srgbClr val="405449"/>
              </a:solidFill>
              <a:latin typeface="Nobile" panose="02000503050000020004" pitchFamily="34" charset="0"/>
              <a:ea typeface="Nobile" panose="02000503050000020004" pitchFamily="34" charset="-122"/>
              <a:cs typeface="Nobile" panose="02000503050000020004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training</a:t>
            </a:r>
            <a:r>
              <a:rPr lang="en-US" sz="11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Rectangle 9"/>
          <p:cNvSpPr/>
          <p:nvPr/>
        </p:nvSpPr>
        <p:spPr>
          <a:xfrm>
            <a:off x="12675870" y="7680960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1758950"/>
            <a:ext cx="13109575" cy="5134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4713" y="2320528"/>
            <a:ext cx="5968722" cy="504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Design Decisions &amp; Rationale</a:t>
            </a:r>
            <a:endParaRPr lang="en-US" sz="3150" dirty="0"/>
          </a:p>
        </p:txBody>
      </p:sp>
      <p:sp>
        <p:nvSpPr>
          <p:cNvPr id="4" name="Shape 1"/>
          <p:cNvSpPr/>
          <p:nvPr>
            <p:custDataLst>
              <p:tags r:id="rId1"/>
            </p:custDataLst>
          </p:nvPr>
        </p:nvSpPr>
        <p:spPr>
          <a:xfrm>
            <a:off x="564713" y="3318153"/>
            <a:ext cx="645319" cy="968097"/>
          </a:xfrm>
          <a:prstGeom prst="roundRect">
            <a:avLst>
              <a:gd name="adj" fmla="val 360064"/>
            </a:avLst>
          </a:prstGeom>
          <a:solidFill>
            <a:srgbClr val="E8F3E8"/>
          </a:solidFill>
        </p:spPr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766405" y="3650933"/>
            <a:ext cx="241935" cy="3025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1371362" y="3479483"/>
            <a:ext cx="2999899" cy="252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Clean, Professional Aesthetic</a:t>
            </a:r>
            <a:endParaRPr lang="en-US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1371362" y="3828336"/>
            <a:ext cx="12694325" cy="258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 focus on readability and clear visual hierarchy ensures an intuitive user experience. Modern, web-safe sans-serif fonts enhance content legibility</a:t>
            </a:r>
            <a:r>
              <a:rPr lang="en-US" sz="12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564713" y="4447580"/>
            <a:ext cx="645319" cy="968097"/>
          </a:xfrm>
          <a:prstGeom prst="roundRect">
            <a:avLst>
              <a:gd name="adj" fmla="val 360064"/>
            </a:avLst>
          </a:prstGeom>
          <a:solidFill>
            <a:srgbClr val="E8F3E8"/>
          </a:solidFill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766405" y="4780359"/>
            <a:ext cx="241935" cy="3025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1371362" y="4608909"/>
            <a:ext cx="2016919" cy="252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Responsive Layout</a:t>
            </a:r>
            <a:endParaRPr lang="en-US" dirty="0"/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1371362" y="4957763"/>
            <a:ext cx="12694325" cy="258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6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Utilising CSS Grid and Flexbox, the website dynamically adapts to various screen sizes, providing seamless usability across mobile and desktop devices</a:t>
            </a:r>
            <a:r>
              <a:rPr lang="en-US" sz="12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564713" y="5577007"/>
            <a:ext cx="645319" cy="968097"/>
          </a:xfrm>
          <a:prstGeom prst="roundRect">
            <a:avLst>
              <a:gd name="adj" fmla="val 360064"/>
            </a:avLst>
          </a:prstGeom>
          <a:solidFill>
            <a:srgbClr val="E8F3E8"/>
          </a:solidFill>
        </p:spPr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766405" y="5909786"/>
            <a:ext cx="241935" cy="3025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1371362" y="5738336"/>
            <a:ext cx="2111335" cy="252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Consistent Branding</a:t>
            </a:r>
            <a:endParaRPr lang="en-US" b="1" dirty="0">
              <a:solidFill>
                <a:srgbClr val="405449"/>
              </a:solidFill>
              <a:latin typeface="Fraunces Extra Bold" pitchFamily="34" charset="0"/>
              <a:ea typeface="Fraunces Extra Bold" pitchFamily="34" charset="-122"/>
              <a:cs typeface="Fraunces Extra Bold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1371362" y="6087189"/>
            <a:ext cx="12694325" cy="258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Structured sections, consistent spacing, and clear call-to-action buttons maintain a cohesive brand identity throughout the site</a:t>
            </a:r>
            <a:r>
              <a:rPr lang="en-US" sz="12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564713" y="6706433"/>
            <a:ext cx="645319" cy="968097"/>
          </a:xfrm>
          <a:prstGeom prst="roundRect">
            <a:avLst>
              <a:gd name="adj" fmla="val 360064"/>
            </a:avLst>
          </a:prstGeom>
          <a:solidFill>
            <a:srgbClr val="E8F3E8"/>
          </a:solidFill>
        </p:spPr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766405" y="7039213"/>
            <a:ext cx="241935" cy="3025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1371362" y="6867763"/>
            <a:ext cx="3486864" cy="252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Semantic HTML5 for Accessibility</a:t>
            </a:r>
            <a:endParaRPr lang="en-US" dirty="0"/>
          </a:p>
        </p:txBody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1371362" y="7216616"/>
            <a:ext cx="12694325" cy="258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use of semantic HTML5 not only improves search engine optimisation but also ensures greater accessibility for all users.</a:t>
            </a:r>
            <a:endParaRPr lang="en-US" sz="1490" dirty="0"/>
          </a:p>
        </p:txBody>
      </p:sp>
      <p:sp>
        <p:nvSpPr>
          <p:cNvPr id="20" name="Rectangle 19"/>
          <p:cNvSpPr/>
          <p:nvPr/>
        </p:nvSpPr>
        <p:spPr>
          <a:xfrm>
            <a:off x="12675870" y="7674530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-3810"/>
            <a:ext cx="14609445" cy="2031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1844"/>
            <a:ext cx="616993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Accessing the Project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24413"/>
            <a:ext cx="6407944" cy="2902387"/>
          </a:xfrm>
          <a:prstGeom prst="roundRect">
            <a:avLst>
              <a:gd name="adj" fmla="val 5041"/>
            </a:avLst>
          </a:prstGeom>
          <a:solidFill>
            <a:srgbClr val="FAFFFA"/>
          </a:solidFill>
        </p:spPr>
      </p:sp>
      <p:sp>
        <p:nvSpPr>
          <p:cNvPr id="4" name="Shape 2"/>
          <p:cNvSpPr/>
          <p:nvPr/>
        </p:nvSpPr>
        <p:spPr>
          <a:xfrm>
            <a:off x="793790" y="2893933"/>
            <a:ext cx="6407944" cy="121920"/>
          </a:xfrm>
          <a:prstGeom prst="roundRect">
            <a:avLst>
              <a:gd name="adj" fmla="val 167442"/>
            </a:avLst>
          </a:prstGeom>
          <a:solidFill>
            <a:schemeClr val="accent1">
              <a:lumMod val="50000"/>
            </a:schemeClr>
          </a:solidFill>
        </p:spPr>
      </p:sp>
      <p:sp>
        <p:nvSpPr>
          <p:cNvPr id="5" name="Shape 3"/>
          <p:cNvSpPr/>
          <p:nvPr/>
        </p:nvSpPr>
        <p:spPr>
          <a:xfrm>
            <a:off x="3657540" y="2584252"/>
            <a:ext cx="680442" cy="680442"/>
          </a:xfrm>
          <a:prstGeom prst="roundRect">
            <a:avLst>
              <a:gd name="adj" fmla="val 134383"/>
            </a:avLst>
          </a:prstGeom>
          <a:solidFill>
            <a:schemeClr val="accent1">
              <a:lumMod val="50000"/>
            </a:scheme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2788325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491389"/>
            <a:ext cx="426600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Live Website on GitHub Pages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981807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Experience the Culinary Arts Academy website directly: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51084" y="4843701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438951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  <a:hlinkClick r:id="rId3"/>
              </a:rPr>
              <a:t>https://yourusername.github.io/culinary-arts-academy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2924413"/>
            <a:ext cx="6408063" cy="2902387"/>
          </a:xfrm>
          <a:prstGeom prst="roundRect">
            <a:avLst>
              <a:gd name="adj" fmla="val 5041"/>
            </a:avLst>
          </a:prstGeom>
          <a:solidFill>
            <a:srgbClr val="FAFFFA"/>
          </a:solidFill>
        </p:spPr>
      </p:sp>
      <p:sp>
        <p:nvSpPr>
          <p:cNvPr id="11" name="Shape 8"/>
          <p:cNvSpPr/>
          <p:nvPr/>
        </p:nvSpPr>
        <p:spPr>
          <a:xfrm>
            <a:off x="7428548" y="2893933"/>
            <a:ext cx="6408063" cy="121920"/>
          </a:xfrm>
          <a:prstGeom prst="roundRect">
            <a:avLst>
              <a:gd name="adj" fmla="val 167442"/>
            </a:avLst>
          </a:prstGeom>
          <a:solidFill>
            <a:schemeClr val="accent1">
              <a:lumMod val="50000"/>
            </a:schemeClr>
          </a:solidFill>
        </p:spPr>
      </p:sp>
      <p:sp>
        <p:nvSpPr>
          <p:cNvPr id="12" name="Shape 9"/>
          <p:cNvSpPr/>
          <p:nvPr/>
        </p:nvSpPr>
        <p:spPr>
          <a:xfrm>
            <a:off x="10292298" y="2584252"/>
            <a:ext cx="680442" cy="680442"/>
          </a:xfrm>
          <a:prstGeom prst="roundRect">
            <a:avLst>
              <a:gd name="adj" fmla="val 134383"/>
            </a:avLst>
          </a:prstGeom>
          <a:solidFill>
            <a:schemeClr val="accent1">
              <a:lumMod val="50000"/>
            </a:schemeClr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2788325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349138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GitHub Repository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85842" y="3981807"/>
            <a:ext cx="589347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Explore the full codebase, including HTML, CSS, and project documentation: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7685842" y="4843701"/>
            <a:ext cx="589347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438951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  <a:hlinkClick r:id="rId5"/>
              </a:rPr>
              <a:t>https://github.com/yourusername/culinary-arts-academy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793790" y="6081951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run the site locally, simply open the HTML file in any modern web browser. For publishing, upload HTML and CSS files to a static hosting service.</a:t>
            </a:r>
            <a:endParaRPr lang="en-US" sz="1750" dirty="0"/>
          </a:p>
        </p:txBody>
      </p:sp>
      <p:sp>
        <p:nvSpPr>
          <p:cNvPr id="18" name="Rectangle 17"/>
          <p:cNvSpPr/>
          <p:nvPr/>
        </p:nvSpPr>
        <p:spPr>
          <a:xfrm>
            <a:off x="12602052" y="7680960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6494621" cy="644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Reflection on the Project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430387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Challenges &amp; Learning Outcomes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1319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project provided invaluable experience in structuring semantic HTML5 documents and implementing responsive layouts using CSS Grid and Flexbox. Overcoming design challenges sharpened problem-solving skills.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760113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Mastering responsive design techniques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4162187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Ensuring cross-browser compatibility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4564261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Balancing aesthetic appeal with functional requirements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310" y="1153835"/>
            <a:ext cx="6342102" cy="63421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675870" y="7680960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337" y="609838"/>
            <a:ext cx="7639526" cy="537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Next Steps &amp; Future Enhancements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602337" y="1491853"/>
            <a:ext cx="1342549" cy="1266944"/>
          </a:xfrm>
          <a:prstGeom prst="roundRect">
            <a:avLst>
              <a:gd name="adj" fmla="val 12228"/>
            </a:avLst>
          </a:prstGeom>
          <a:solidFill>
            <a:srgbClr val="E8F3E8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2525" y="2004298"/>
            <a:ext cx="242054" cy="2420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16931" y="1663898"/>
            <a:ext cx="2175867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Executive Summary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116931" y="2035969"/>
            <a:ext cx="11739086" cy="5507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project successfully delivered a robust culinary education platform, demonstrating proficiency in web development and data management, and exceeding academic assessment criteria.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030849" y="2749272"/>
            <a:ext cx="11911251" cy="11430"/>
          </a:xfrm>
          <a:prstGeom prst="roundRect">
            <a:avLst>
              <a:gd name="adj" fmla="val 1355352"/>
            </a:avLst>
          </a:prstGeom>
          <a:solidFill>
            <a:srgbClr val="CED9CE"/>
          </a:solidFill>
        </p:spPr>
      </p:sp>
      <p:sp>
        <p:nvSpPr>
          <p:cNvPr id="8" name="Shape 5"/>
          <p:cNvSpPr/>
          <p:nvPr/>
        </p:nvSpPr>
        <p:spPr>
          <a:xfrm>
            <a:off x="602337" y="2844760"/>
            <a:ext cx="2685097" cy="991553"/>
          </a:xfrm>
          <a:prstGeom prst="roundRect">
            <a:avLst>
              <a:gd name="adj" fmla="val 15624"/>
            </a:avLst>
          </a:prstGeom>
          <a:solidFill>
            <a:srgbClr val="E8F3E8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3799" y="3219450"/>
            <a:ext cx="242054" cy="2420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9480" y="3016806"/>
            <a:ext cx="2932509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Image Optimization &amp; CDN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459480" y="3388876"/>
            <a:ext cx="9715500" cy="275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Implementing image optimisation techniques and integrating a Content Delivery Network (CDN) for faster load times.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373398" y="3826788"/>
            <a:ext cx="10568702" cy="11430"/>
          </a:xfrm>
          <a:prstGeom prst="roundRect">
            <a:avLst>
              <a:gd name="adj" fmla="val 1355352"/>
            </a:avLst>
          </a:prstGeom>
          <a:solidFill>
            <a:srgbClr val="CED9CE"/>
          </a:solidFill>
        </p:spPr>
      </p:sp>
      <p:sp>
        <p:nvSpPr>
          <p:cNvPr id="13" name="Shape 9"/>
          <p:cNvSpPr/>
          <p:nvPr/>
        </p:nvSpPr>
        <p:spPr>
          <a:xfrm>
            <a:off x="602337" y="3922276"/>
            <a:ext cx="4027646" cy="991553"/>
          </a:xfrm>
          <a:prstGeom prst="roundRect">
            <a:avLst>
              <a:gd name="adj" fmla="val 15624"/>
            </a:avLst>
          </a:prstGeom>
          <a:solidFill>
            <a:srgbClr val="E8F3E8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5074" y="4296966"/>
            <a:ext cx="242054" cy="2420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2029" y="4094321"/>
            <a:ext cx="2652355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Backend Form Handling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4802029" y="4466392"/>
            <a:ext cx="8177570" cy="275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Developing server-side logic for the contact form to process submissions and enhance interactivity.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715947" y="4904303"/>
            <a:ext cx="9226153" cy="11430"/>
          </a:xfrm>
          <a:prstGeom prst="roundRect">
            <a:avLst>
              <a:gd name="adj" fmla="val 1355352"/>
            </a:avLst>
          </a:prstGeom>
          <a:solidFill>
            <a:srgbClr val="CED9CE"/>
          </a:solidFill>
        </p:spPr>
      </p:sp>
      <p:sp>
        <p:nvSpPr>
          <p:cNvPr id="18" name="Shape 13"/>
          <p:cNvSpPr/>
          <p:nvPr/>
        </p:nvSpPr>
        <p:spPr>
          <a:xfrm>
            <a:off x="602337" y="4999792"/>
            <a:ext cx="5370195" cy="1266944"/>
          </a:xfrm>
          <a:prstGeom prst="roundRect">
            <a:avLst>
              <a:gd name="adj" fmla="val 12228"/>
            </a:avLst>
          </a:prstGeom>
          <a:solidFill>
            <a:srgbClr val="E8F3E8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6348" y="5512237"/>
            <a:ext cx="242054" cy="2420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44578" y="5171837"/>
            <a:ext cx="2877503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Accessibility &amp; SEO Audits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6144578" y="5543907"/>
            <a:ext cx="7711440" cy="5507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Conducting comprehensive audits to ensure WCAG compliance and improved search engine visibility.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058495" y="6257211"/>
            <a:ext cx="7883604" cy="11430"/>
          </a:xfrm>
          <a:prstGeom prst="roundRect">
            <a:avLst>
              <a:gd name="adj" fmla="val 1355352"/>
            </a:avLst>
          </a:prstGeom>
          <a:solidFill>
            <a:srgbClr val="CED9CE"/>
          </a:solidFill>
        </p:spPr>
      </p:sp>
      <p:sp>
        <p:nvSpPr>
          <p:cNvPr id="23" name="Shape 17"/>
          <p:cNvSpPr/>
          <p:nvPr/>
        </p:nvSpPr>
        <p:spPr>
          <a:xfrm>
            <a:off x="602337" y="6352699"/>
            <a:ext cx="6712863" cy="1266944"/>
          </a:xfrm>
          <a:prstGeom prst="roundRect">
            <a:avLst>
              <a:gd name="adj" fmla="val 12228"/>
            </a:avLst>
          </a:prstGeom>
          <a:solidFill>
            <a:srgbClr val="E8F3E8"/>
          </a:solidFill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7742" y="6865144"/>
            <a:ext cx="242054" cy="24205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87245" y="6524744"/>
            <a:ext cx="2444591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Multi-Page Navigation</a:t>
            </a:r>
            <a:endParaRPr lang="en-US" sz="1650" dirty="0"/>
          </a:p>
        </p:txBody>
      </p:sp>
      <p:sp>
        <p:nvSpPr>
          <p:cNvPr id="26" name="Text 19"/>
          <p:cNvSpPr/>
          <p:nvPr/>
        </p:nvSpPr>
        <p:spPr>
          <a:xfrm>
            <a:off x="7487245" y="6896814"/>
            <a:ext cx="6368772" cy="5507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Evolving from a single-page layout to a multi-page structure to support future content scalability.</a:t>
            </a:r>
            <a:endParaRPr lang="en-US" sz="1350" dirty="0"/>
          </a:p>
        </p:txBody>
      </p:sp>
      <p:sp>
        <p:nvSpPr>
          <p:cNvPr id="27" name="Rectangle 26"/>
          <p:cNvSpPr/>
          <p:nvPr/>
        </p:nvSpPr>
        <p:spPr>
          <a:xfrm>
            <a:off x="12675870" y="7619643"/>
            <a:ext cx="1954530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2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3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4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5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6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7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8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9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10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11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12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13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14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15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ags/tag16.xml><?xml version="1.0" encoding="utf-8"?>
<p:tagLst xmlns:p="http://schemas.openxmlformats.org/presentationml/2006/main">
  <p:tag name="KSO_WM_DIAGRAM_VIRTUALLY_FRAME" val="{&quot;height&quot;:343.02181102362204,&quot;left&quot;:44.4655905511811,&quot;top&quot;:261.27188976377954,&quot;width&quot;:1063.068818897637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4389</Words>
  <Application>WPS Presentation</Application>
  <PresentationFormat>Custom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Fraunces Extra Bold</vt:lpstr>
      <vt:lpstr>Fraunces Extra Bold</vt:lpstr>
      <vt:lpstr>Fraunces Extra Bold</vt:lpstr>
      <vt:lpstr>Nobile</vt:lpstr>
      <vt:lpstr>Nobile</vt:lpstr>
      <vt:lpstr>Nobile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Zainab Amir</cp:lastModifiedBy>
  <cp:revision>8</cp:revision>
  <dcterms:created xsi:type="dcterms:W3CDTF">2025-12-27T07:27:00Z</dcterms:created>
  <dcterms:modified xsi:type="dcterms:W3CDTF">2026-01-03T11:58:46Z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D8019C2C33E64301A017637DF42B1179_12</vt:lpwstr>
  </property>
  <property fmtid="{D5CDD505-2E9C-101B-9397-08002B2CF9AE}" pid="3" name="KSOProductBuildVer">
    <vt:lpwstr>1033-12.2.0.23196</vt:lpwstr>
  </property>
</Properties>
</file>